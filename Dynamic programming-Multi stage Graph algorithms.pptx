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3" r:id="rId4"/>
    <p:sldId id="261" r:id="rId5"/>
    <p:sldId id="259" r:id="rId6"/>
    <p:sldId id="257" r:id="rId7"/>
    <p:sldId id="258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21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D7E5-325A-46D0-8D2B-EA5A96E820A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103A-07ED-43B9-8209-E12C1A697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852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D7E5-325A-46D0-8D2B-EA5A96E820A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103A-07ED-43B9-8209-E12C1A697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0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D7E5-325A-46D0-8D2B-EA5A96E820A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103A-07ED-43B9-8209-E12C1A697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99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D7E5-325A-46D0-8D2B-EA5A96E820A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103A-07ED-43B9-8209-E12C1A697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53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D7E5-325A-46D0-8D2B-EA5A96E820A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103A-07ED-43B9-8209-E12C1A697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08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D7E5-325A-46D0-8D2B-EA5A96E820A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103A-07ED-43B9-8209-E12C1A697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879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D7E5-325A-46D0-8D2B-EA5A96E820A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103A-07ED-43B9-8209-E12C1A697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5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D7E5-325A-46D0-8D2B-EA5A96E820A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103A-07ED-43B9-8209-E12C1A697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38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D7E5-325A-46D0-8D2B-EA5A96E820A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103A-07ED-43B9-8209-E12C1A697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73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D7E5-325A-46D0-8D2B-EA5A96E820A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103A-07ED-43B9-8209-E12C1A697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D7E5-325A-46D0-8D2B-EA5A96E820A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103A-07ED-43B9-8209-E12C1A697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27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CD7E5-325A-46D0-8D2B-EA5A96E820A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2103A-07ED-43B9-8209-E12C1A697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19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Dynamic </a:t>
            </a:r>
            <a:r>
              <a:rPr lang="en-US"/>
              <a:t>Programming-Multi </a:t>
            </a:r>
            <a:r>
              <a:rPr lang="en-US" dirty="0"/>
              <a:t>S</a:t>
            </a:r>
            <a:r>
              <a:rPr lang="en-US"/>
              <a:t>tage </a:t>
            </a:r>
            <a:r>
              <a:rPr lang="en-US" dirty="0"/>
              <a:t>Graph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70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Dynamic programming approach is similar to divide and conquer in breaking down the problem into smaller and yet smaller possible sub-problems. </a:t>
            </a:r>
          </a:p>
          <a:p>
            <a:pPr algn="just"/>
            <a:r>
              <a:rPr lang="en-US" dirty="0"/>
              <a:t>But unlike, divide and conquer, these sub-problems are not solved independently. </a:t>
            </a:r>
          </a:p>
          <a:p>
            <a:pPr algn="just"/>
            <a:r>
              <a:rPr lang="en-US" dirty="0"/>
              <a:t>Results of these smaller sub-problems are remembered or recorded and used for similar or overlapping sub-problems.</a:t>
            </a:r>
          </a:p>
          <a:p>
            <a:pPr algn="just"/>
            <a:r>
              <a:rPr lang="en-US" dirty="0"/>
              <a:t>The solutions of sub-problems are combined in order to achieve the best solution.</a:t>
            </a:r>
          </a:p>
          <a:p>
            <a:pPr algn="just"/>
            <a:r>
              <a:rPr lang="en-US" dirty="0"/>
              <a:t>Mostly, these algorithms are used for optimization.</a:t>
            </a:r>
          </a:p>
        </p:txBody>
      </p:sp>
    </p:spTree>
    <p:extLst>
      <p:ext uri="{BB962C8B-B14F-4D97-AF65-F5344CB8AC3E}">
        <p14:creationId xmlns:p14="http://schemas.microsoft.com/office/powerpoint/2010/main" val="2955769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7B28C-65F4-C3C6-4EDD-F3ACCF069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 of Optimality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A418D-B668-4DC5-328E-431E2B3D0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Definition: 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problem is said to satisfy the Principle of Optimality if the </a:t>
            </a:r>
            <a:r>
              <a:rPr lang="en-US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subsolutions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of an optimal solution of the problem are </a:t>
            </a:r>
            <a:r>
              <a:rPr lang="en-US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themesleves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optimal solutions for their subproblems.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Examples: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shortest path problem satisfies the Principle of Optimality.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This is because if a,x1,x2,...,</a:t>
            </a:r>
            <a:r>
              <a:rPr lang="en-US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xn,b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is a shortest path from node a to node b in a graph, then the portion of xi to </a:t>
            </a:r>
            <a:r>
              <a:rPr lang="en-US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xj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on that path is a shortest path from xi to </a:t>
            </a:r>
            <a:r>
              <a:rPr lang="en-US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xj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longest path problem, on the other hand, does not satisfy the Principle of Optimality. Take for example the undirected graph G of nodes a, b, c, d, and e, and edges (</a:t>
            </a:r>
            <a:r>
              <a:rPr lang="en-US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a,b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 (</a:t>
            </a:r>
            <a:r>
              <a:rPr lang="en-US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b,c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 (</a:t>
            </a:r>
            <a:r>
              <a:rPr lang="en-US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c,d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 (</a:t>
            </a:r>
            <a:r>
              <a:rPr lang="en-US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d,e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 and (</a:t>
            </a:r>
            <a:r>
              <a:rPr lang="en-US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e,a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). That is, G is a ring. The longest (noncyclic) path from a to d to </a:t>
            </a:r>
            <a:r>
              <a:rPr lang="en-US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a,b,c,d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The sub-path from b to c on that path is simply the edge </a:t>
            </a:r>
            <a:r>
              <a:rPr lang="en-US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b,c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But that is not the longest path from b to c. Rather, </a:t>
            </a:r>
            <a:r>
              <a:rPr lang="en-US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b,a,e,d,c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is the longest path. Thus, the </a:t>
            </a:r>
            <a:r>
              <a:rPr lang="en-US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subpath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on a longest path is not necessarily a longest path.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1569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Dynamic programming can be used in both top-down and bottom-up manner</a:t>
            </a:r>
          </a:p>
          <a:p>
            <a:r>
              <a:rPr lang="en-US" dirty="0"/>
              <a:t>The following computer problems can be solved using dynamic programming approach −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Fibonacci number series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Knapsack problem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Tower of Hanoi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All pair shortest path by Floyd-</a:t>
            </a:r>
            <a:r>
              <a:rPr lang="en-US" dirty="0" err="1"/>
              <a:t>Warshall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Shortest path by Dijkstra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Project scheduling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05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Multistage graph problem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The multistage graph problem is to find a minimum cost from a source to a sink.</a:t>
            </a:r>
          </a:p>
          <a:p>
            <a:pPr algn="just"/>
            <a:r>
              <a:rPr lang="en-US" dirty="0"/>
              <a:t>A multistage graph is a directed graph having a number of multiple stages, where stages element should be connected consecutively.</a:t>
            </a:r>
          </a:p>
          <a:p>
            <a:pPr algn="just"/>
            <a:r>
              <a:rPr lang="en-US" dirty="0"/>
              <a:t>In this multiple stage graph, there is a vertex whose in degree is </a:t>
            </a:r>
            <a:r>
              <a:rPr lang="en-US" b="1" dirty="0"/>
              <a:t>0</a:t>
            </a:r>
            <a:r>
              <a:rPr lang="en-US" dirty="0"/>
              <a:t> that is known as the source. And the vertex with only one out degree is </a:t>
            </a:r>
            <a:r>
              <a:rPr lang="en-US" b="1" dirty="0"/>
              <a:t>0</a:t>
            </a:r>
            <a:r>
              <a:rPr lang="en-US" dirty="0"/>
              <a:t> is known as the destination vertex.</a:t>
            </a:r>
          </a:p>
          <a:p>
            <a:pPr algn="just"/>
            <a:r>
              <a:rPr lang="en-US" dirty="0"/>
              <a:t>The one end of the multiple stage graphs is at </a:t>
            </a:r>
            <a:r>
              <a:rPr lang="en-US" b="1" dirty="0" err="1"/>
              <a:t>i</a:t>
            </a:r>
            <a:r>
              <a:rPr lang="en-US" dirty="0"/>
              <a:t> thus the other reaching end is on </a:t>
            </a:r>
            <a:r>
              <a:rPr lang="en-US" b="1" dirty="0"/>
              <a:t>i+1</a:t>
            </a:r>
            <a:r>
              <a:rPr lang="en-US" dirty="0"/>
              <a:t> stage.</a:t>
            </a:r>
          </a:p>
          <a:p>
            <a:pPr algn="just"/>
            <a:r>
              <a:rPr lang="en-US" dirty="0"/>
              <a:t>If we denote a graph </a:t>
            </a:r>
            <a:r>
              <a:rPr lang="en-US" b="1" dirty="0"/>
              <a:t>G = (V, E)</a:t>
            </a:r>
            <a:r>
              <a:rPr lang="en-US" dirty="0"/>
              <a:t> in which the vertices are partitioned into </a:t>
            </a:r>
            <a:r>
              <a:rPr lang="en-US" b="1" dirty="0"/>
              <a:t>K &gt;= 2</a:t>
            </a:r>
            <a:r>
              <a:rPr lang="en-US" dirty="0"/>
              <a:t> disjoints sets, </a:t>
            </a:r>
            <a:r>
              <a:rPr lang="en-US" b="1" dirty="0"/>
              <a:t>Vi</a:t>
            </a:r>
            <a:r>
              <a:rPr lang="en-US" dirty="0"/>
              <a:t>, </a:t>
            </a:r>
            <a:r>
              <a:rPr lang="en-US" b="1" dirty="0"/>
              <a:t>1 &lt;= I &lt;=K</a:t>
            </a:r>
            <a:r>
              <a:rPr lang="en-US" dirty="0"/>
              <a:t>. So that, if there is an edge </a:t>
            </a:r>
            <a:r>
              <a:rPr lang="en-US" b="1" dirty="0"/>
              <a:t>&lt; u, v &gt;</a:t>
            </a:r>
            <a:r>
              <a:rPr lang="en-US" dirty="0"/>
              <a:t> from </a:t>
            </a:r>
            <a:r>
              <a:rPr lang="en-US" b="1" dirty="0"/>
              <a:t>u</a:t>
            </a:r>
            <a:r>
              <a:rPr lang="en-US" dirty="0"/>
              <a:t> to </a:t>
            </a:r>
            <a:r>
              <a:rPr lang="en-US" b="1" dirty="0"/>
              <a:t>v</a:t>
            </a:r>
            <a:r>
              <a:rPr lang="en-US" dirty="0"/>
              <a:t> in E, the </a:t>
            </a:r>
            <a:r>
              <a:rPr lang="en-US" b="1" dirty="0"/>
              <a:t>u £Vi</a:t>
            </a:r>
            <a:r>
              <a:rPr lang="en-US" dirty="0"/>
              <a:t> and </a:t>
            </a:r>
            <a:r>
              <a:rPr lang="en-US" b="1" dirty="0"/>
              <a:t>v € v (i+1)</a:t>
            </a:r>
            <a:r>
              <a:rPr lang="en-US" dirty="0"/>
              <a:t>, for some </a:t>
            </a:r>
            <a:r>
              <a:rPr lang="en-US" b="1" dirty="0"/>
              <a:t>I</a:t>
            </a:r>
            <a:r>
              <a:rPr lang="en-US" dirty="0"/>
              <a:t>, </a:t>
            </a:r>
            <a:r>
              <a:rPr lang="en-US" b="1" dirty="0"/>
              <a:t>1 &lt;= </a:t>
            </a:r>
            <a:r>
              <a:rPr lang="en-US" b="1" dirty="0" err="1"/>
              <a:t>i</a:t>
            </a:r>
            <a:r>
              <a:rPr lang="en-US" b="1" dirty="0"/>
              <a:t> &lt;= K</a:t>
            </a:r>
            <a:r>
              <a:rPr lang="en-US" dirty="0"/>
              <a:t>. And sets </a:t>
            </a:r>
            <a:r>
              <a:rPr lang="en-US" b="1" dirty="0"/>
              <a:t>V1</a:t>
            </a:r>
            <a:r>
              <a:rPr lang="en-US" dirty="0"/>
              <a:t> and </a:t>
            </a:r>
            <a:r>
              <a:rPr lang="en-US" b="1" dirty="0" err="1"/>
              <a:t>Vk</a:t>
            </a:r>
            <a:r>
              <a:rPr lang="en-US" dirty="0"/>
              <a:t> are such that </a:t>
            </a:r>
            <a:r>
              <a:rPr lang="en-US" b="1" dirty="0"/>
              <a:t>|V1| = |</a:t>
            </a:r>
            <a:r>
              <a:rPr lang="en-US" b="1" dirty="0" err="1"/>
              <a:t>Vk</a:t>
            </a:r>
            <a:r>
              <a:rPr lang="en-US" b="1" dirty="0"/>
              <a:t>| = 1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324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Algorithm for Forward Approach</a:t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00200"/>
            <a:ext cx="7010400" cy="4337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3864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Backward Approach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1"/>
            <a:ext cx="7239000" cy="4988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1484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827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Solve the following multi-stage graph using forward and backward approach and find the optimal path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133600"/>
            <a:ext cx="78486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6601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595</Words>
  <Application>Microsoft Office PowerPoint</Application>
  <PresentationFormat>On-screen Show (4:3)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Office Theme</vt:lpstr>
      <vt:lpstr>Dynamic Programming-Multi Stage Graph</vt:lpstr>
      <vt:lpstr>Dynamic programming</vt:lpstr>
      <vt:lpstr>Principle of Optimality</vt:lpstr>
      <vt:lpstr>Example </vt:lpstr>
      <vt:lpstr>Multistage graph problem </vt:lpstr>
      <vt:lpstr> Algorithm for Forward Approach </vt:lpstr>
      <vt:lpstr>Algorithm for Backward Approach</vt:lpstr>
      <vt:lpstr>Solve the following multi-stage graph using forward and backward approach and find the optimal path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stage Graph</dc:title>
  <dc:creator>staff</dc:creator>
  <cp:lastModifiedBy>Reena Devi R</cp:lastModifiedBy>
  <cp:revision>6</cp:revision>
  <dcterms:created xsi:type="dcterms:W3CDTF">2021-03-29T05:02:12Z</dcterms:created>
  <dcterms:modified xsi:type="dcterms:W3CDTF">2025-03-20T11:20:25Z</dcterms:modified>
</cp:coreProperties>
</file>